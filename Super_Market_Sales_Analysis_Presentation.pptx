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9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f650d12-5d0e-73f0-15c6-aa198a0aa81a}">
          <p14:sldIdLst>
            <p14:sldId id="256"/>
            <p14:sldId id="257"/>
          </p14:sldIdLst>
        </p14:section>
        <p14:section name="Data" id="{ad033885-452a-5e81-cc22-fec95715aa04}">
          <p14:sldIdLst>
            <p14:sldId id="258"/>
            <p14:sldId id="259"/>
          </p14:sldIdLst>
        </p14:section>
        <p14:section name="Findings" id="{97311a7c-8a6b-df97-e8a5-3c36a9749757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Wrap-up" id="{e16a7080-26fc-ecbf-821d-daf7bed5d1c1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+mn-lt"/>
              </a:rPr>
              <a:t>Sales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4532D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825856</c:v>
                </c:pt>
                <c:pt idx="1">
                  <c:v>723538</c:v>
                </c:pt>
                <c:pt idx="2">
                  <c:v>703213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AE5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+mn-lt"/>
              </a:rPr>
              <a:t>Top 8 sub-categories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Copiers</c:v>
                  </c:pt>
                  <c:pt idx="1">
                    <c:v>Accessories</c:v>
                  </c:pt>
                  <c:pt idx="2">
                    <c:v>Machines</c:v>
                  </c:pt>
                  <c:pt idx="3">
                    <c:v>Binders</c:v>
                  </c:pt>
                  <c:pt idx="4">
                    <c:v>Tables</c:v>
                  </c:pt>
                  <c:pt idx="5">
                    <c:v>Storage</c:v>
                  </c:pt>
                  <c:pt idx="6">
                    <c:v>Chairs</c:v>
                  </c:pt>
                  <c:pt idx="7">
                    <c:v>Phones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146248</c:v>
                </c:pt>
                <c:pt idx="1">
                  <c:v>163882</c:v>
                </c:pt>
                <c:pt idx="2">
                  <c:v>189239</c:v>
                </c:pt>
                <c:pt idx="3">
                  <c:v>200029</c:v>
                </c:pt>
                <c:pt idx="4">
                  <c:v>202811</c:v>
                </c:pt>
                <c:pt idx="5">
                  <c:v>217779</c:v>
                </c:pt>
                <c:pt idx="6">
                  <c:v>322108</c:v>
                </c:pt>
                <c:pt idx="7">
                  <c:v>326488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E3EAE5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C9F70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479856</c:v>
                </c:pt>
                <c:pt idx="1">
                  <c:v>454316</c:v>
                </c:pt>
                <c:pt idx="2">
                  <c:v>597225</c:v>
                </c:pt>
                <c:pt idx="3">
                  <c:v>721210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AE5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4532D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53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6C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53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53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53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532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532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532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4532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4532D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28C2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4532D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91982</c:v>
                </c:pt>
                <c:pt idx="1">
                  <c:v>59371</c:v>
                </c:pt>
                <c:pt idx="2">
                  <c:v>197574</c:v>
                </c:pt>
                <c:pt idx="3">
                  <c:v>134988</c:v>
                </c:pt>
                <c:pt idx="4">
                  <c:v>154087</c:v>
                </c:pt>
                <c:pt idx="5">
                  <c:v>145838</c:v>
                </c:pt>
                <c:pt idx="6">
                  <c:v>145536</c:v>
                </c:pt>
                <c:pt idx="7">
                  <c:v>157316</c:v>
                </c:pt>
                <c:pt idx="8">
                  <c:v>300103</c:v>
                </c:pt>
                <c:pt idx="9">
                  <c:v>199496</c:v>
                </c:pt>
                <c:pt idx="10">
                  <c:v>345042</c:v>
                </c:pt>
                <c:pt idx="11">
                  <c:v>321275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AE5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+mn-lt"/>
              </a:rPr>
              <a:t>Sales by region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532D"/>
              </a:solidFill>
              <a:effectLst/>
            </c:spPr>
          </c:dPt>
          <c:dPt>
            <c:idx val="1"/>
            <c:bubble3D val="0"/>
            <c:spPr>
              <a:solidFill>
                <a:srgbClr val="4C9F70"/>
              </a:solidFill>
              <a:effectLst/>
            </c:spPr>
          </c:dPt>
          <c:dPt>
            <c:idx val="2"/>
            <c:bubble3D val="0"/>
            <c:spPr>
              <a:solidFill>
                <a:srgbClr val="F28C28"/>
              </a:solidFill>
              <a:effectLst/>
            </c:spPr>
          </c:dPt>
          <c:dPt>
            <c:idx val="3"/>
            <c:bubble3D val="0"/>
            <c:spPr>
              <a:solidFill>
                <a:srgbClr val="A9D6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710220</c:v>
                </c:pt>
                <c:pt idx="1">
                  <c:v>660589</c:v>
                </c:pt>
                <c:pt idx="2">
                  <c:v>492647</c:v>
                </c:pt>
                <c:pt idx="3">
                  <c:v>389151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+mn-lt"/>
              </a:rPr>
              <a:t>Top 6 states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Florida</c:v>
                  </c:pt>
                  <c:pt idx="1">
                    <c:v>Pennsylvania</c:v>
                  </c:pt>
                  <c:pt idx="2">
                    <c:v>Washington</c:v>
                  </c:pt>
                  <c:pt idx="3">
                    <c:v>Texas</c:v>
                  </c:pt>
                  <c:pt idx="4">
                    <c:v>New York</c:v>
                  </c:pt>
                  <c:pt idx="5">
                    <c:v>California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88437</c:v>
                </c:pt>
                <c:pt idx="1">
                  <c:v>116277</c:v>
                </c:pt>
                <c:pt idx="2">
                  <c:v>135207</c:v>
                </c:pt>
                <c:pt idx="3">
                  <c:v>168573</c:v>
                </c:pt>
                <c:pt idx="4">
                  <c:v>306361</c:v>
                </c:pt>
                <c:pt idx="5">
                  <c:v>446306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E3E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+mn-lt"/>
              </a:rPr>
              <a:t>Sales by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4532D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1146708</c:v>
                </c:pt>
                <c:pt idx="1">
                  <c:v>682212</c:v>
                </c:pt>
                <c:pt idx="2">
                  <c:v>423687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AE5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+mn-lt"/>
              </a:rPr>
              <a:t>Sales by shipping mode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C9F70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Standard Class</c:v>
                  </c:pt>
                  <c:pt idx="1">
                    <c:v>Second Class</c:v>
                  </c:pt>
                  <c:pt idx="2">
                    <c:v>First Class</c:v>
                  </c:pt>
                  <c:pt idx="3">
                    <c:v>Same 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1332617</c:v>
                </c:pt>
                <c:pt idx="1">
                  <c:v>449199</c:v>
                </c:pt>
                <c:pt idx="2">
                  <c:v>345572</c:v>
                </c:pt>
                <c:pt idx="3">
                  <c:v>125219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AE5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Hunter Lopez</c:v>
                  </c:pt>
                  <c:pt idx="1">
                    <c:v>Sanjit Chand</c:v>
                  </c:pt>
                  <c:pt idx="2">
                    <c:v>Ken Lonsdale</c:v>
                  </c:pt>
                  <c:pt idx="3">
                    <c:v>Adrian Barton</c:v>
                  </c:pt>
                  <c:pt idx="4">
                    <c:v>Tom Ashbrook</c:v>
                  </c:pt>
                  <c:pt idx="5">
                    <c:v>Raymond Buch</c:v>
                  </c:pt>
                  <c:pt idx="6">
                    <c:v>Tamara Chand</c:v>
                  </c:pt>
                  <c:pt idx="7">
                    <c:v>Sean Miller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12873</c:v>
                </c:pt>
                <c:pt idx="1">
                  <c:v>14142</c:v>
                </c:pt>
                <c:pt idx="2">
                  <c:v>14175</c:v>
                </c:pt>
                <c:pt idx="3">
                  <c:v>14474</c:v>
                </c:pt>
                <c:pt idx="4">
                  <c:v>14596</c:v>
                </c:pt>
                <c:pt idx="5">
                  <c:v>15117</c:v>
                </c:pt>
                <c:pt idx="6">
                  <c:v>19052</c:v>
                </c:pt>
                <c:pt idx="7">
                  <c:v>25043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E3E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supermarket sales, 2015-2018, cleaned with Python, queried with SQL, summarised in Excel and visualised in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3.xml"/><Relationship Id="rId4" Type="http://schemas.openxmlformats.org/officeDocument/2006/relationships/image" Target="../media/excel_dashboard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Market Sales Analysis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54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with Python, SQL, Excel and Power BI</a:t>
            </a:r>
            <a:endParaRPr lang="en-US" sz="1800" dirty="0"/>
          </a:p>
        </p:txBody>
      </p:sp>
      <p:sp>
        <p:nvSpPr>
          <p:cNvPr id="4" name="Motif large"/>
          <p:cNvSpPr/>
          <p:nvPr/>
        </p:nvSpPr>
        <p:spPr>
          <a:xfrm>
            <a:off x="6949440" y="45720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Motif small"/>
          <p:cNvSpPr/>
          <p:nvPr/>
        </p:nvSpPr>
        <p:spPr>
          <a:xfrm>
            <a:off x="7955280" y="173736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Arunkumar R  |  Data Analyst Portfolio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Clean and prepare the raw sales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Explore sales trends and patterns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Find top categories, sub-categories and customers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Compare regions, segments and shipping modes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Build Excel and Power BI dashboards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2000" dirty="0"/>
          </a:p>
        </p:txBody>
      </p:sp>
      <p:sp>
        <p:nvSpPr>
          <p:cNvPr id="6" name="Tool card Python"/>
          <p:cNvSpPr/>
          <p:nvPr/>
        </p:nvSpPr>
        <p:spPr>
          <a:xfrm>
            <a:off x="4846320" y="1645920"/>
            <a:ext cx="38404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ool dot"/>
          <p:cNvSpPr/>
          <p:nvPr/>
        </p:nvSpPr>
        <p:spPr>
          <a:xfrm>
            <a:off x="4983480" y="177393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40680" y="16459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cleaning, EDA</a:t>
            </a:r>
            <a:endParaRPr lang="en-US" sz="1400" dirty="0"/>
          </a:p>
        </p:txBody>
      </p:sp>
      <p:sp>
        <p:nvSpPr>
          <p:cNvPr id="9" name="Tool card SQL / MySQL"/>
          <p:cNvSpPr/>
          <p:nvPr/>
        </p:nvSpPr>
        <p:spPr>
          <a:xfrm>
            <a:off x="4846320" y="2331720"/>
            <a:ext cx="38404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ool dot"/>
          <p:cNvSpPr/>
          <p:nvPr/>
        </p:nvSpPr>
        <p:spPr>
          <a:xfrm>
            <a:off x="4983480" y="245973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40680" y="23317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MySQL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grouping, aggregation</a:t>
            </a:r>
            <a:endParaRPr lang="en-US" sz="1400" dirty="0"/>
          </a:p>
        </p:txBody>
      </p:sp>
      <p:sp>
        <p:nvSpPr>
          <p:cNvPr id="12" name="Tool card Excel"/>
          <p:cNvSpPr/>
          <p:nvPr/>
        </p:nvSpPr>
        <p:spPr>
          <a:xfrm>
            <a:off x="4846320" y="3017520"/>
            <a:ext cx="38404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ool dot"/>
          <p:cNvSpPr/>
          <p:nvPr/>
        </p:nvSpPr>
        <p:spPr>
          <a:xfrm>
            <a:off x="4983480" y="314553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0680" y="30175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SUMIFS, charts</a:t>
            </a:r>
            <a:endParaRPr lang="en-US" sz="1400" dirty="0"/>
          </a:p>
        </p:txBody>
      </p:sp>
      <p:sp>
        <p:nvSpPr>
          <p:cNvPr id="15" name="Tool card Power BI"/>
          <p:cNvSpPr/>
          <p:nvPr/>
        </p:nvSpPr>
        <p:spPr>
          <a:xfrm>
            <a:off x="4846320" y="3703320"/>
            <a:ext cx="38404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ool dot"/>
          <p:cNvSpPr/>
          <p:nvPr/>
        </p:nvSpPr>
        <p:spPr>
          <a:xfrm>
            <a:off x="4983480" y="383133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2800" dirty="0"/>
          </a:p>
        </p:txBody>
      </p:sp>
      <p:sp>
        <p:nvSpPr>
          <p:cNvPr id="3" name="KPI card 1"/>
          <p:cNvSpPr/>
          <p:nvPr/>
        </p:nvSpPr>
        <p:spPr>
          <a:xfrm>
            <a:off x="457200" y="137160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$2.25M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6" name="KPI card 2"/>
          <p:cNvSpPr/>
          <p:nvPr/>
        </p:nvSpPr>
        <p:spPr>
          <a:xfrm>
            <a:off x="2560320" y="137160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4,916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9" name="KPI card 3"/>
          <p:cNvSpPr/>
          <p:nvPr/>
        </p:nvSpPr>
        <p:spPr>
          <a:xfrm>
            <a:off x="4663440" y="137160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2" name="KPI card 4"/>
          <p:cNvSpPr/>
          <p:nvPr/>
        </p:nvSpPr>
        <p:spPr>
          <a:xfrm>
            <a:off x="6766560" y="137160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$458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sales per order</a:t>
            </a:r>
            <a:endParaRPr lang="en-US" sz="1400" dirty="0"/>
          </a:p>
        </p:txBody>
      </p:sp>
      <p:sp>
        <p:nvSpPr>
          <p:cNvPr id="15" name="Insight card"/>
          <p:cNvSpPr/>
          <p:nvPr/>
        </p:nvSpPr>
        <p:spPr>
          <a:xfrm>
            <a:off x="457200" y="347472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74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9,789 cleaned rows across 1,860 products, Jan 2015 to Dec 2018. The data has Sales only, no Profit column.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dashboard</a:t>
            </a:r>
            <a:endParaRPr lang="en-US" sz="2800" dirty="0"/>
          </a:p>
        </p:txBody>
      </p:sp>
      <p:sp>
        <p:nvSpPr>
          <p:cNvPr id="3" name="Step badge 1"/>
          <p:cNvSpPr/>
          <p:nvPr/>
        </p:nvSpPr>
        <p:spPr>
          <a:xfrm>
            <a:off x="118872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tep card 1"/>
          <p:cNvSpPr/>
          <p:nvPr/>
        </p:nvSpPr>
        <p:spPr>
          <a:xfrm>
            <a:off x="457200" y="210312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19456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train.csv: 9,800 rows, 18 columns</a:t>
            </a:r>
            <a:endParaRPr lang="en-US" sz="1800" dirty="0"/>
          </a:p>
        </p:txBody>
      </p:sp>
      <p:sp>
        <p:nvSpPr>
          <p:cNvPr id="7" name="Step badge 2"/>
          <p:cNvSpPr/>
          <p:nvPr/>
        </p:nvSpPr>
        <p:spPr>
          <a:xfrm>
            <a:off x="3291840" y="13716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tep card 2"/>
          <p:cNvSpPr/>
          <p:nvPr/>
        </p:nvSpPr>
        <p:spPr>
          <a:xfrm>
            <a:off x="2560320" y="210312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219456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rows with missing Postal Code removed, month fields added: 9,789 rows</a:t>
            </a:r>
            <a:endParaRPr lang="en-US" sz="1800" dirty="0"/>
          </a:p>
        </p:txBody>
      </p:sp>
      <p:sp>
        <p:nvSpPr>
          <p:cNvPr id="11" name="Step badge 3"/>
          <p:cNvSpPr/>
          <p:nvPr/>
        </p:nvSpPr>
        <p:spPr>
          <a:xfrm>
            <a:off x="539496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Step card 3"/>
          <p:cNvSpPr/>
          <p:nvPr/>
        </p:nvSpPr>
        <p:spPr>
          <a:xfrm>
            <a:off x="4663440" y="210312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19456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 Python, queries in MySQL</a:t>
            </a:r>
            <a:endParaRPr lang="en-US" sz="1800" dirty="0"/>
          </a:p>
        </p:txBody>
      </p:sp>
      <p:sp>
        <p:nvSpPr>
          <p:cNvPr id="15" name="Step badge 4"/>
          <p:cNvSpPr/>
          <p:nvPr/>
        </p:nvSpPr>
        <p:spPr>
          <a:xfrm>
            <a:off x="7498080" y="13716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Step card 4"/>
          <p:cNvSpPr/>
          <p:nvPr/>
        </p:nvSpPr>
        <p:spPr>
          <a:xfrm>
            <a:off x="6766560" y="2103120"/>
            <a:ext cx="1920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19456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in Excel and Power BI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leads, but the gap is narrow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3840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480560" y="109728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Insight card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36.7% of sales; Phones is the top sub-category at $326K, with Chairs close behind.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grew 21% in 2018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Year callout 2018"/>
          <p:cNvSpPr/>
          <p:nvPr/>
        </p:nvSpPr>
        <p:spPr>
          <a:xfrm>
            <a:off x="5943600" y="1280160"/>
            <a:ext cx="274320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$721K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year (2018)</a:t>
            </a:r>
            <a:endParaRPr lang="en-US" sz="1400" dirty="0"/>
          </a:p>
        </p:txBody>
      </p:sp>
      <p:sp>
        <p:nvSpPr>
          <p:cNvPr id="7" name="Year callout 2016"/>
          <p:cNvSpPr/>
          <p:nvPr/>
        </p:nvSpPr>
        <p:spPr>
          <a:xfrm>
            <a:off x="5943600" y="2743200"/>
            <a:ext cx="27432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$454K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year (2016)</a:t>
            </a:r>
            <a:endParaRPr lang="en-US" sz="1400" dirty="0"/>
          </a:p>
        </p:txBody>
      </p:sp>
      <p:sp>
        <p:nvSpPr>
          <p:cNvPr id="10" name="Insight card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dipped in 2016, then rose for two years: +31% in 2017 and +21% in 2018.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year-end seasonality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card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is the peak at $345K and February the lowest at $59K (all four years combined). Sep to Dec is the busy season.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 and East drive 61% of sales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3931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0" y="109728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Insight card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($446K) and New York ($306K) together contribute about a third of total sales.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Consumers and Standard Class dominate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09728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Insight card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is 51% of sales and Standard Class carries 59% of sales, so shipping speed is not the main driver.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customers by sales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card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 is the top customer at $25.0K, well ahead of Tamara Chand at $19.1K.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and next steps</a:t>
            </a:r>
            <a:endParaRPr lang="en-US" sz="2800" dirty="0"/>
          </a:p>
        </p:txBody>
      </p:sp>
      <p:sp>
        <p:nvSpPr>
          <p:cNvPr id="3" name="Insights card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Technology and Phones lead sales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Sales peak in Nov and fall in Feb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West and East regions are strongest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Sales grew in 2017 and 2018</a:t>
            </a:r>
            <a:endParaRPr lang="en-US" sz="1500" dirty="0"/>
          </a:p>
        </p:txBody>
      </p:sp>
      <p:sp>
        <p:nvSpPr>
          <p:cNvPr id="6" name="Next steps card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202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Stock up ahead of Sep to Dec peak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Run promotions in low months like Feb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Reward top customers to retain them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Add Profit data to measure margins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54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arunkumarrasik@gmail.com  |  linkedin.com/in/arunkumar-r-06aa1143b</a:t>
            </a:r>
            <a:endParaRPr lang="en-US" sz="1800" dirty="0"/>
          </a:p>
        </p:txBody>
      </p:sp>
      <p:sp>
        <p:nvSpPr>
          <p:cNvPr id="4" name="Motif large"/>
          <p:cNvSpPr/>
          <p:nvPr/>
        </p:nvSpPr>
        <p:spPr>
          <a:xfrm>
            <a:off x="6949440" y="45720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Motif small"/>
          <p:cNvSpPr/>
          <p:nvPr/>
        </p:nvSpPr>
        <p:spPr>
          <a:xfrm>
            <a:off x="7955280" y="173736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analysis built in Excel</a:t>
            </a:r>
            <a:endParaRPr lang="en-US" sz="2800" dirty="0"/>
          </a:p>
        </p:txBody>
      </p:sp>
      <p:pic>
        <p:nvPicPr>
          <p:cNvPr id="3" name="Excel dashboard" descr="Screenshot of the Excel sales dashboard with KPI cards, monthly trend, sales by year and sales by categ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97280"/>
            <a:ext cx="4068785" cy="3017520"/>
          </a:xfrm>
          <a:prstGeom prst="rect">
            <a:avLst/>
          </a:prstGeom>
          <a:ln w="12700">
            <a:solidFill>
              <a:schemeClr val="bg2"/>
            </a:solidFill>
          </a:ln>
        </p:spPr>
      </p:pic>
      <p:sp>
        <p:nvSpPr>
          <p:cNvPr id="4" name="Insight card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totals match the Python analysis: $2.25M sales, 4,916 orders, 793 customers.</a:t>
            </a:r>
            <a:endParaRPr lang="en-US" sz="1400" dirty="0"/>
          </a:p>
        </p:txBody>
      </p:sp>
      <p:sp>
        <p:nvSpPr>
          <p:cNvPr id="6" name="Excel card 1"/>
          <p:cNvSpPr/>
          <p:nvPr/>
        </p:nvSpPr>
        <p:spPr>
          <a:xfrm>
            <a:off x="4800305" y="1097280"/>
            <a:ext cx="3886495" cy="88392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Excel card text 1"/>
          <p:cNvSpPr txBox="1"/>
          <p:nvPr/>
        </p:nvSpPr>
        <p:spPr>
          <a:xfrm>
            <a:off x="4983185" y="1097280"/>
            <a:ext cx="3520735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sheets</a:t>
            </a:r>
          </a:p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Detailed Charts, Summary Tables and Raw Data</a:t>
            </a:r>
          </a:p>
        </p:txBody>
      </p:sp>
      <p:sp>
        <p:nvSpPr>
          <p:cNvPr id="8" name="Excel card 2"/>
          <p:cNvSpPr/>
          <p:nvPr/>
        </p:nvSpPr>
        <p:spPr>
          <a:xfrm>
            <a:off x="4800305" y="2164080"/>
            <a:ext cx="3886495" cy="88392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cel card text 2"/>
          <p:cNvSpPr txBox="1"/>
          <p:nvPr/>
        </p:nvSpPr>
        <p:spPr>
          <a:xfrm>
            <a:off x="4983185" y="2164080"/>
            <a:ext cx="3520735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charts</a:t>
            </a:r>
          </a:p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trend, yearly sales, category, region, segment, shipping, top products, customers, states and cities</a:t>
            </a:r>
          </a:p>
        </p:txBody>
      </p:sp>
      <p:sp>
        <p:nvSpPr>
          <p:cNvPr id="10" name="Excel card 3"/>
          <p:cNvSpPr/>
          <p:nvPr/>
        </p:nvSpPr>
        <p:spPr>
          <a:xfrm>
            <a:off x="4800305" y="3230880"/>
            <a:ext cx="3886495" cy="88392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xcel card text 3"/>
          <p:cNvSpPr txBox="1"/>
          <p:nvPr/>
        </p:nvSpPr>
        <p:spPr>
          <a:xfrm>
            <a:off x="4983185" y="3230880"/>
            <a:ext cx="3520735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SUMIFS and COUNTIFS</a:t>
            </a:r>
          </a:p>
          <a:p>
            <a:pPr algn="l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tables are formulas on the 9,789-row Raw Data sheet, so they update with the data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ermarket Fresh">
  <a:themeElements>
    <a:clrScheme name="Supermarket Fresh">
      <a:dk1>
        <a:srgbClr val="1F2A24"/>
      </a:dk1>
      <a:lt1>
        <a:srgbClr val="FFFFFF"/>
      </a:lt1>
      <a:dk2>
        <a:srgbClr val="14532D"/>
      </a:dk2>
      <a:lt2>
        <a:srgbClr val="F1F6EF"/>
      </a:lt2>
      <a:accent1>
        <a:srgbClr val="14532D"/>
      </a:accent1>
      <a:accent2>
        <a:srgbClr val="F28C28"/>
      </a:accent2>
      <a:accent3>
        <a:srgbClr val="4C9F70"/>
      </a:accent3>
      <a:accent4>
        <a:srgbClr val="A9D6B8"/>
      </a:accent4>
      <a:accent5>
        <a:srgbClr val="C9D4CC"/>
      </a:accent5>
      <a:accent6>
        <a:srgbClr val="D96C06"/>
      </a:accent6>
      <a:hlink>
        <a:srgbClr val="14532D"/>
      </a:hlink>
      <a:folHlink>
        <a:srgbClr val="4C9F70"/>
      </a:folHlink>
    </a:clrScheme>
    <a:fontScheme name="Supermarket Fres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Market Sales Analysis</dc:title>
  <dc:subject>PptxGenJS Presentation</dc:subject>
  <dc:creator>Arunkumar R</dc:creator>
  <cp:lastModifiedBy>Arunkumar R</cp:lastModifiedBy>
  <cp:revision>1</cp:revision>
  <dcterms:created xsi:type="dcterms:W3CDTF">2026-10-19T04:56:50Z</dcterms:created>
  <dcterms:modified xsi:type="dcterms:W3CDTF">2026-10-19T04:56:50Z</dcterms:modified>
</cp:coreProperties>
</file>